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88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9767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600" dirty="0"/>
              <a:t>Software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500" i="1" dirty="0"/>
              <a:t>A Relational Database Model for Software Products, Projects, Licenses, and Releases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Vasanth Kumar (25B11AI432)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Tanish (25B11AI644)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Jaswanth (25B11AIC39)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Janardhana (25B11AI440)</a:t>
            </a:r>
          </a:p>
          <a:p>
            <a:pPr algn="ctr">
              <a:lnSpc>
                <a:spcPct val="100000"/>
              </a:lnSpc>
              <a:spcBef>
                <a:spcPts val="1400"/>
              </a:spcBef>
            </a:pPr>
            <a:r>
              <a:rPr lang="en-IN" sz="1800" i="1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Mrs. V.G.L. Narsamba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7200" y="1280160"/>
            <a:ext cx="9144000" cy="713232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2000" b="1" i="0" u="none">
                <a:solidFill>
                  <a:srgbClr val="FFFFFF"/>
                </a:solidFill>
                <a:latin typeface="Times New Roman"/>
              </a:rPr>
              <a:t>Software Management System</a:t>
            </a:r>
          </a:p>
          <a:p>
            <a:pPr algn="ctr">
              <a:spcAft>
                <a:spcPts val="0"/>
              </a:spcAft>
            </a:pPr>
            <a:r>
              <a:rPr sz="1300" b="0" i="1" u="none">
                <a:solidFill>
                  <a:srgbClr val="DCE6F5"/>
                </a:solidFill>
                <a:latin typeface="Times New Roman"/>
              </a:rPr>
              <a:t>A Relational Database Model for Software Products, Projects, Licenses, and Releases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76272"/>
            <a:ext cx="448056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ABSTRACT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42032"/>
            <a:ext cx="4480560" cy="23317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615184"/>
            <a:ext cx="4297680" cy="2240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A centralized database for managing software information.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Stores important details in one place.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Makes data easy to store, access, update, and manage.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Reduces data duplication and keeps information organized.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Uses database concepts such as primary keys, foreign keys, and constraints.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Provides a simple and efficient way to manage software-related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176272"/>
            <a:ext cx="448056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542032"/>
            <a:ext cx="4480560" cy="23317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2615184"/>
            <a:ext cx="4297680" cy="2240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Software companies manage many products, developers, and client projects.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Information may be stored in different files and places, making it difficult to find and manage.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Can lead to missed license renewals and version errors.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Developers may not be assigned to projects properly.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A centralized database stores all information in one place and helps manage it easily and efficiently.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56632"/>
            <a:ext cx="914400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OBJECTIVES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22392"/>
            <a:ext cx="9144000" cy="1984247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495544"/>
            <a:ext cx="8961120" cy="189280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FF6600"/>
              </a:buClr>
              <a:buFont typeface="Arial"/>
              <a:buChar char="•"/>
            </a:pPr>
            <a:r>
              <a:rPr sz="1250" b="1" i="0" u="none">
                <a:solidFill>
                  <a:srgbClr val="17375E"/>
                </a:solidFill>
                <a:latin typeface="Times New Roman"/>
              </a:rPr>
              <a:t>Centralized Database Design: 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Build a structured relational database to store all software, developer, client, license, and release records securely.</a:t>
            </a:r>
          </a:p>
          <a:p>
            <a:pPr marL="201168" indent="-201168" algn="l">
              <a:spcAft>
                <a:spcPts val="400"/>
              </a:spcAft>
              <a:buClr>
                <a:srgbClr val="FF6600"/>
              </a:buClr>
              <a:buFont typeface="Arial"/>
              <a:buChar char="•"/>
            </a:pPr>
            <a:r>
              <a:rPr sz="1250" b="1" i="0" u="none">
                <a:solidFill>
                  <a:srgbClr val="17375E"/>
                </a:solidFill>
                <a:latin typeface="Times New Roman"/>
              </a:rPr>
              <a:t>Identify Core Entities: 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Isolate primary real-world entities including Software, Developer, Project, License, Client, and Release.</a:t>
            </a:r>
          </a:p>
          <a:p>
            <a:pPr marL="201168" indent="-201168" algn="l">
              <a:spcAft>
                <a:spcPts val="400"/>
              </a:spcAft>
              <a:buClr>
                <a:srgbClr val="FF6600"/>
              </a:buClr>
              <a:buFont typeface="Arial"/>
              <a:buChar char="•"/>
            </a:pPr>
            <a:r>
              <a:rPr sz="1250" b="1" i="0" u="none">
                <a:solidFill>
                  <a:srgbClr val="17375E"/>
                </a:solidFill>
                <a:latin typeface="Times New Roman"/>
              </a:rPr>
              <a:t>Establish Relational Links: 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Connect entities using standard 1-to-Many relationships to enable quick relational queries.</a:t>
            </a:r>
          </a:p>
          <a:p>
            <a:pPr marL="201168" indent="-201168" algn="l">
              <a:spcAft>
                <a:spcPts val="400"/>
              </a:spcAft>
              <a:buClr>
                <a:srgbClr val="FF6600"/>
              </a:buClr>
              <a:buFont typeface="Arial"/>
              <a:buChar char="•"/>
            </a:pPr>
            <a:r>
              <a:rPr sz="1250" b="1" i="0" u="none">
                <a:solidFill>
                  <a:srgbClr val="17375E"/>
                </a:solidFill>
                <a:latin typeface="Times New Roman"/>
              </a:rPr>
              <a:t>Enforce Data Integrity: 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Apply Primary Key (PK) and Foreign Key (FK) constraints to prevent duplicate entries and orphaned records.</a:t>
            </a:r>
          </a:p>
          <a:p>
            <a:pPr marL="201168" indent="-201168" algn="l">
              <a:spcAft>
                <a:spcPts val="400"/>
              </a:spcAft>
              <a:buClr>
                <a:srgbClr val="FF6600"/>
              </a:buClr>
              <a:buFont typeface="Arial"/>
              <a:buChar char="•"/>
            </a:pPr>
            <a:r>
              <a:rPr sz="1250" b="1" i="0" u="none">
                <a:solidFill>
                  <a:srgbClr val="17375E"/>
                </a:solidFill>
                <a:latin typeface="Times New Roman"/>
              </a:rPr>
              <a:t>Visual ER Diagram: 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Construct an Entity-Relationship (ER) diagram to map database entities and relationships clearly.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280160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SOFTWARE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45919"/>
            <a:ext cx="2926080" cy="24871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1700784"/>
            <a:ext cx="2779776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6B7280"/>
                </a:solidFill>
                <a:latin typeface="Times New Roman"/>
              </a:rPr>
              <a:t>Tracks software product details, category, version numbers, and core programming languages.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423160"/>
            <a:ext cx="2779776" cy="16642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u="sng">
                <a:solidFill>
                  <a:srgbClr val="1A1A1A"/>
                </a:solidFill>
                <a:latin typeface="Times New Roman"/>
              </a:rPr>
              <a:t>Software_ID</a:t>
            </a:r>
            <a:r>
              <a:rPr sz="1000" b="1" i="0" u="none">
                <a:solidFill>
                  <a:srgbClr val="C24E00"/>
                </a:solidFill>
                <a:latin typeface="Times New Roman"/>
              </a:rPr>
              <a:t>   PK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Software_Name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Category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Version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1280160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DEVELOPER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645919"/>
            <a:ext cx="2926080" cy="24871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39312" y="1700784"/>
            <a:ext cx="2779776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6B7280"/>
                </a:solidFill>
                <a:latin typeface="Times New Roman"/>
              </a:rPr>
              <a:t>Manages developer profiles, roles, experience, contact details, and project assignments.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2423160"/>
            <a:ext cx="2779776" cy="16642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u="sng">
                <a:solidFill>
                  <a:srgbClr val="1A1A1A"/>
                </a:solidFill>
                <a:latin typeface="Times New Roman"/>
              </a:rPr>
              <a:t>Developer_ID</a:t>
            </a:r>
            <a:r>
              <a:rPr sz="1000" b="1" i="0" u="none">
                <a:solidFill>
                  <a:srgbClr val="C24E00"/>
                </a:solidFill>
                <a:latin typeface="Times New Roman"/>
              </a:rPr>
              <a:t>   PK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Name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Role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Email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Experience_Years</a:t>
            </a:r>
          </a:p>
          <a:p>
            <a:pPr algn="l">
              <a:spcAft>
                <a:spcPts val="200"/>
              </a:spcAft>
            </a:pPr>
            <a:r>
              <a:rPr sz="1400" b="0" i="1" u="none">
                <a:solidFill>
                  <a:srgbClr val="1A1A1A"/>
                </a:solidFill>
                <a:latin typeface="Times New Roman"/>
              </a:rPr>
              <a:t>Project_ID</a:t>
            </a:r>
            <a:r>
              <a:rPr sz="1000" b="1" i="0" u="none">
                <a:solidFill>
                  <a:srgbClr val="17375E"/>
                </a:solidFill>
                <a:latin typeface="Times New Roman"/>
              </a:rPr>
              <a:t>   FK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280160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645919"/>
            <a:ext cx="2926080" cy="24871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1700784"/>
            <a:ext cx="2779776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6B7280"/>
                </a:solidFill>
                <a:latin typeface="Times New Roman"/>
              </a:rPr>
              <a:t>Tracks client projects, budget limits, start dates, completion deadlines, and assigned software.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2423160"/>
            <a:ext cx="2779776" cy="16642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u="sng">
                <a:solidFill>
                  <a:srgbClr val="1A1A1A"/>
                </a:solidFill>
                <a:latin typeface="Times New Roman"/>
              </a:rPr>
              <a:t>Project_ID</a:t>
            </a:r>
            <a:r>
              <a:rPr sz="1000" b="1" i="0" u="none">
                <a:solidFill>
                  <a:srgbClr val="C24E00"/>
                </a:solidFill>
                <a:latin typeface="Times New Roman"/>
              </a:rPr>
              <a:t>   PK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Project_Name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Start_Date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End_Date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Budget</a:t>
            </a:r>
          </a:p>
          <a:p>
            <a:pPr algn="l">
              <a:spcAft>
                <a:spcPts val="200"/>
              </a:spcAft>
            </a:pPr>
            <a:r>
              <a:rPr sz="1400" b="0" i="1" u="none">
                <a:solidFill>
                  <a:srgbClr val="1A1A1A"/>
                </a:solidFill>
                <a:latin typeface="Times New Roman"/>
              </a:rPr>
              <a:t>Client_ID</a:t>
            </a:r>
            <a:r>
              <a:rPr sz="1000" b="1" i="0" u="none">
                <a:solidFill>
                  <a:srgbClr val="17375E"/>
                </a:solidFill>
                <a:latin typeface="Times New Roman"/>
              </a:rPr>
              <a:t>   FK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15968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LICENSE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81728"/>
            <a:ext cx="2926080" cy="24871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736592"/>
            <a:ext cx="2779776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6B7280"/>
                </a:solidFill>
                <a:latin typeface="Times New Roman"/>
              </a:rPr>
              <a:t>Monitors software license keys, purchase costs, and automated license expiration dates.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458968"/>
            <a:ext cx="2779776" cy="16642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u="sng">
                <a:solidFill>
                  <a:srgbClr val="1A1A1A"/>
                </a:solidFill>
                <a:latin typeface="Times New Roman"/>
              </a:rPr>
              <a:t>License_ID</a:t>
            </a:r>
            <a:r>
              <a:rPr sz="1000" b="1" i="0" u="none">
                <a:solidFill>
                  <a:srgbClr val="C24E00"/>
                </a:solidFill>
                <a:latin typeface="Times New Roman"/>
              </a:rPr>
              <a:t>   PK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License_Key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Expiry_Date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Cost</a:t>
            </a:r>
          </a:p>
          <a:p>
            <a:pPr algn="l">
              <a:spcAft>
                <a:spcPts val="200"/>
              </a:spcAft>
            </a:pPr>
            <a:r>
              <a:rPr sz="1400" b="0" i="1" u="none">
                <a:solidFill>
                  <a:srgbClr val="1A1A1A"/>
                </a:solidFill>
                <a:latin typeface="Times New Roman"/>
              </a:rPr>
              <a:t>Software_ID</a:t>
            </a:r>
            <a:r>
              <a:rPr sz="1000" b="1" i="0" u="none">
                <a:solidFill>
                  <a:srgbClr val="17375E"/>
                </a:solidFill>
                <a:latin typeface="Times New Roman"/>
              </a:rPr>
              <a:t>   FK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315968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CLIENT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681728"/>
            <a:ext cx="2926080" cy="24871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39312" y="4736592"/>
            <a:ext cx="2779776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6B7280"/>
                </a:solidFill>
                <a:latin typeface="Times New Roman"/>
              </a:rPr>
              <a:t>Stores client company information, contact person details, email, and contracted projects.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9312" y="5458968"/>
            <a:ext cx="2779776" cy="16642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u="sng">
                <a:solidFill>
                  <a:srgbClr val="1A1A1A"/>
                </a:solidFill>
                <a:latin typeface="Times New Roman"/>
              </a:rPr>
              <a:t>Client_ID</a:t>
            </a:r>
            <a:r>
              <a:rPr sz="1000" b="1" i="0" u="none">
                <a:solidFill>
                  <a:srgbClr val="C24E00"/>
                </a:solidFill>
                <a:latin typeface="Times New Roman"/>
              </a:rPr>
              <a:t>   PK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Company_Name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Contact_Person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Email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Phone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4315968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RELEASE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4681728"/>
            <a:ext cx="2926080" cy="24871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48272" y="4736592"/>
            <a:ext cx="2779776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none">
                <a:solidFill>
                  <a:srgbClr val="6B7280"/>
                </a:solidFill>
                <a:latin typeface="Times New Roman"/>
              </a:rPr>
              <a:t>Logs version release history, patch launch dates, and software version updates.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5458968"/>
            <a:ext cx="2779776" cy="16642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u="sng">
                <a:solidFill>
                  <a:srgbClr val="1A1A1A"/>
                </a:solidFill>
                <a:latin typeface="Times New Roman"/>
              </a:rPr>
              <a:t>Release_ID</a:t>
            </a:r>
            <a:r>
              <a:rPr sz="1000" b="1" i="0" u="none">
                <a:solidFill>
                  <a:srgbClr val="C24E00"/>
                </a:solidFill>
                <a:latin typeface="Times New Roman"/>
              </a:rPr>
              <a:t>   PK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Release_Version</a:t>
            </a:r>
          </a:p>
          <a:p>
            <a:pPr algn="l">
              <a:spcAft>
                <a:spcPts val="200"/>
              </a:spcAft>
            </a:pPr>
            <a:r>
              <a:rPr sz="1400" b="0" i="0" u="none">
                <a:solidFill>
                  <a:srgbClr val="1A1A1A"/>
                </a:solidFill>
                <a:latin typeface="Times New Roman"/>
              </a:rPr>
              <a:t>Release_Date</a:t>
            </a:r>
          </a:p>
          <a:p>
            <a:pPr algn="l">
              <a:spcAft>
                <a:spcPts val="200"/>
              </a:spcAft>
            </a:pPr>
            <a:r>
              <a:rPr sz="1400" b="0" i="1" u="none">
                <a:solidFill>
                  <a:srgbClr val="1A1A1A"/>
                </a:solidFill>
                <a:latin typeface="Times New Roman"/>
              </a:rPr>
              <a:t>Software_ID</a:t>
            </a:r>
            <a:r>
              <a:rPr sz="1000" b="1" i="0" u="none">
                <a:solidFill>
                  <a:srgbClr val="17375E"/>
                </a:solidFill>
                <a:latin typeface="Times New Roman"/>
              </a:rPr>
              <a:t>   FK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7269480"/>
            <a:ext cx="9144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u="none">
                <a:solidFill>
                  <a:srgbClr val="17375E"/>
                </a:solidFill>
                <a:latin typeface="Times New Roman"/>
              </a:rPr>
              <a:t>6 entities  |  </a:t>
            </a:r>
            <a:r>
              <a:rPr sz="1100" b="1" i="0" u="none">
                <a:solidFill>
                  <a:srgbClr val="C24E00"/>
                </a:solidFill>
                <a:latin typeface="Times New Roman"/>
              </a:rPr>
              <a:t>PK</a:t>
            </a:r>
            <a:r>
              <a:rPr sz="1100" b="0" i="0" u="none">
                <a:solidFill>
                  <a:srgbClr val="6B7280"/>
                </a:solidFill>
                <a:latin typeface="Times New Roman"/>
              </a:rPr>
              <a:t> = Primary Key (underlined)   </a:t>
            </a:r>
            <a:r>
              <a:rPr sz="1100" b="1" i="0" u="none">
                <a:solidFill>
                  <a:srgbClr val="17375E"/>
                </a:solidFill>
                <a:latin typeface="Times New Roman"/>
              </a:rPr>
              <a:t>FK</a:t>
            </a:r>
            <a:r>
              <a:rPr sz="1100" b="0" i="0" u="none">
                <a:solidFill>
                  <a:srgbClr val="6B7280"/>
                </a:solidFill>
                <a:latin typeface="Times New Roman"/>
              </a:rPr>
              <a:t> = Foreign Key (italic)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23211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760720"/>
            <a:ext cx="3703320" cy="14630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733800" y="6537960"/>
            <a:ext cx="35204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 u="none" dirty="0">
                <a:solidFill>
                  <a:srgbClr val="17375E"/>
                </a:solidFill>
                <a:latin typeface="Times New Roman"/>
              </a:rPr>
              <a:t>Relationships (all 1 : M)</a:t>
            </a:r>
          </a:p>
          <a:p>
            <a:pPr algn="l">
              <a:spcAft>
                <a:spcPts val="300"/>
              </a:spcAft>
            </a:pPr>
            <a:r>
              <a:rPr sz="1050" b="1" i="0" u="none" dirty="0">
                <a:solidFill>
                  <a:srgbClr val="1A1A1A"/>
                </a:solidFill>
                <a:latin typeface="Times New Roman"/>
              </a:rPr>
              <a:t>Client — Project: </a:t>
            </a:r>
            <a:r>
              <a:rPr sz="1050" b="0" i="0" u="none" dirty="0">
                <a:solidFill>
                  <a:srgbClr val="1A1A1A"/>
                </a:solidFill>
                <a:latin typeface="Times New Roman"/>
              </a:rPr>
              <a:t>one client orders many projects</a:t>
            </a:r>
          </a:p>
          <a:p>
            <a:pPr algn="l">
              <a:spcAft>
                <a:spcPts val="300"/>
              </a:spcAft>
            </a:pPr>
            <a:r>
              <a:rPr sz="1050" b="1" i="0" u="none" dirty="0">
                <a:solidFill>
                  <a:srgbClr val="1A1A1A"/>
                </a:solidFill>
                <a:latin typeface="Times New Roman"/>
              </a:rPr>
              <a:t>Project — Developer: </a:t>
            </a:r>
            <a:r>
              <a:rPr sz="1050" b="0" i="0" u="none" dirty="0">
                <a:solidFill>
                  <a:srgbClr val="1A1A1A"/>
                </a:solidFill>
                <a:latin typeface="Times New Roman"/>
              </a:rPr>
              <a:t>one project has many developers</a:t>
            </a:r>
          </a:p>
          <a:p>
            <a:pPr algn="l">
              <a:spcAft>
                <a:spcPts val="300"/>
              </a:spcAft>
            </a:pPr>
            <a:r>
              <a:rPr sz="1050" b="1" i="0" u="none" dirty="0">
                <a:solidFill>
                  <a:srgbClr val="1A1A1A"/>
                </a:solidFill>
                <a:latin typeface="Times New Roman"/>
              </a:rPr>
              <a:t>Project — Software: </a:t>
            </a:r>
            <a:r>
              <a:rPr sz="1050" b="0" i="0" u="none" dirty="0">
                <a:solidFill>
                  <a:srgbClr val="1A1A1A"/>
                </a:solidFill>
                <a:latin typeface="Times New Roman"/>
              </a:rPr>
              <a:t>one project manages many software</a:t>
            </a:r>
          </a:p>
          <a:p>
            <a:pPr algn="l">
              <a:spcAft>
                <a:spcPts val="300"/>
              </a:spcAft>
            </a:pPr>
            <a:r>
              <a:rPr sz="1050" b="1" i="0" u="none" dirty="0">
                <a:solidFill>
                  <a:srgbClr val="1A1A1A"/>
                </a:solidFill>
                <a:latin typeface="Times New Roman"/>
              </a:rPr>
              <a:t>Software — License: </a:t>
            </a:r>
            <a:r>
              <a:rPr sz="1050" b="0" i="0" u="none" dirty="0">
                <a:solidFill>
                  <a:srgbClr val="1A1A1A"/>
                </a:solidFill>
                <a:latin typeface="Times New Roman"/>
              </a:rPr>
              <a:t>one software has many licenses</a:t>
            </a:r>
          </a:p>
          <a:p>
            <a:pPr algn="l">
              <a:spcAft>
                <a:spcPts val="300"/>
              </a:spcAft>
            </a:pPr>
            <a:r>
              <a:rPr sz="1050" b="1" i="0" u="none" dirty="0">
                <a:solidFill>
                  <a:srgbClr val="1A1A1A"/>
                </a:solidFill>
                <a:latin typeface="Times New Roman"/>
              </a:rPr>
              <a:t>Software — Release: </a:t>
            </a:r>
            <a:r>
              <a:rPr sz="1050" b="0" i="0" u="none" dirty="0">
                <a:solidFill>
                  <a:srgbClr val="1A1A1A"/>
                </a:solidFill>
                <a:latin typeface="Times New Roman"/>
              </a:rPr>
              <a:t>one software has many releases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1" y="893184"/>
            <a:ext cx="8077200" cy="55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371600"/>
            <a:ext cx="1325880" cy="67665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Software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7943" y="1371600"/>
            <a:ext cx="1243584" cy="676656"/>
          </a:xfrm>
          <a:prstGeom prst="rect">
            <a:avLst/>
          </a:prstGeom>
          <a:solidFill>
            <a:srgbClr val="FFF1E6"/>
          </a:solidFill>
          <a:ln w="19050">
            <a:solidFill>
              <a:srgbClr val="FF6600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0" u="sng">
                <a:solidFill>
                  <a:srgbClr val="1A1A1A"/>
                </a:solidFill>
                <a:latin typeface="Times New Roman"/>
              </a:rPr>
              <a:t>Software_ID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C24E00"/>
                </a:solidFill>
                <a:latin typeface="Times New Roman"/>
              </a:rPr>
              <a:t>Primary 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6391" y="1371600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Software_Name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371600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Category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33288" y="1371600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31736" y="1371600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Language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67712"/>
            <a:ext cx="1325880" cy="67665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Developer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7943" y="2267712"/>
            <a:ext cx="1243584" cy="676656"/>
          </a:xfrm>
          <a:prstGeom prst="rect">
            <a:avLst/>
          </a:prstGeom>
          <a:solidFill>
            <a:srgbClr val="FFF1E6"/>
          </a:solidFill>
          <a:ln w="19050">
            <a:solidFill>
              <a:srgbClr val="FF6600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0" u="sng">
                <a:solidFill>
                  <a:srgbClr val="1A1A1A"/>
                </a:solidFill>
                <a:latin typeface="Times New Roman"/>
              </a:rPr>
              <a:t>Developer_ID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C24E00"/>
                </a:solidFill>
                <a:latin typeface="Times New Roman"/>
              </a:rPr>
              <a:t>Primary Key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36391" y="2267712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267712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Role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33288" y="2267712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Email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31736" y="2267712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Experience_Years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0183" y="2267712"/>
            <a:ext cx="1243584" cy="676656"/>
          </a:xfrm>
          <a:prstGeom prst="rect">
            <a:avLst/>
          </a:prstGeom>
          <a:solidFill>
            <a:srgbClr val="E3EBF7"/>
          </a:solidFill>
          <a:ln w="15875">
            <a:solidFill>
              <a:srgbClr val="17375E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1" u="none">
                <a:solidFill>
                  <a:srgbClr val="1A1A1A"/>
                </a:solidFill>
                <a:latin typeface="Times New Roman"/>
              </a:rPr>
              <a:t>Project_ID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17375E"/>
                </a:solidFill>
                <a:latin typeface="Times New Roman"/>
              </a:rPr>
              <a:t>FK → Project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63824"/>
            <a:ext cx="1325880" cy="67665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Project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37943" y="3163824"/>
            <a:ext cx="1243584" cy="676656"/>
          </a:xfrm>
          <a:prstGeom prst="rect">
            <a:avLst/>
          </a:prstGeom>
          <a:solidFill>
            <a:srgbClr val="FFF1E6"/>
          </a:solidFill>
          <a:ln w="19050">
            <a:solidFill>
              <a:srgbClr val="FF6600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0" u="sng">
                <a:solidFill>
                  <a:srgbClr val="1A1A1A"/>
                </a:solidFill>
                <a:latin typeface="Times New Roman"/>
              </a:rPr>
              <a:t>Project_ID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C24E00"/>
                </a:solidFill>
                <a:latin typeface="Times New Roman"/>
              </a:rPr>
              <a:t>Primary Key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36391" y="3163824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Project_Name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3163824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Start_Date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33288" y="3163824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End_Date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31736" y="3163824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Budget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0183" y="3163824"/>
            <a:ext cx="1243584" cy="676656"/>
          </a:xfrm>
          <a:prstGeom prst="rect">
            <a:avLst/>
          </a:prstGeom>
          <a:solidFill>
            <a:srgbClr val="E3EBF7"/>
          </a:solidFill>
          <a:ln w="15875">
            <a:solidFill>
              <a:srgbClr val="17375E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1" u="none">
                <a:solidFill>
                  <a:srgbClr val="1A1A1A"/>
                </a:solidFill>
                <a:latin typeface="Times New Roman"/>
              </a:rPr>
              <a:t>Client_ID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17375E"/>
                </a:solidFill>
                <a:latin typeface="Times New Roman"/>
              </a:rPr>
              <a:t>FK → Client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59935"/>
            <a:ext cx="1325880" cy="67665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License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37943" y="4059935"/>
            <a:ext cx="1243584" cy="676656"/>
          </a:xfrm>
          <a:prstGeom prst="rect">
            <a:avLst/>
          </a:prstGeom>
          <a:solidFill>
            <a:srgbClr val="FFF1E6"/>
          </a:solidFill>
          <a:ln w="19050">
            <a:solidFill>
              <a:srgbClr val="FF6600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0" u="sng">
                <a:solidFill>
                  <a:srgbClr val="1A1A1A"/>
                </a:solidFill>
                <a:latin typeface="Times New Roman"/>
              </a:rPr>
              <a:t>License_ID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C24E00"/>
                </a:solidFill>
                <a:latin typeface="Times New Roman"/>
              </a:rPr>
              <a:t>Primary Key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6391" y="4059935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License_Key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059935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Expiry_Date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33288" y="4059935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Cost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31736" y="4059935"/>
            <a:ext cx="1243584" cy="676656"/>
          </a:xfrm>
          <a:prstGeom prst="rect">
            <a:avLst/>
          </a:prstGeom>
          <a:solidFill>
            <a:srgbClr val="E3EBF7"/>
          </a:solidFill>
          <a:ln w="15875">
            <a:solidFill>
              <a:srgbClr val="17375E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1" u="none">
                <a:solidFill>
                  <a:srgbClr val="1A1A1A"/>
                </a:solidFill>
                <a:latin typeface="Times New Roman"/>
              </a:rPr>
              <a:t>Software_ID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17375E"/>
                </a:solidFill>
                <a:latin typeface="Times New Roman"/>
              </a:rPr>
              <a:t>FK → Software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56048"/>
            <a:ext cx="1325880" cy="67665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Client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37943" y="4956048"/>
            <a:ext cx="1243584" cy="676656"/>
          </a:xfrm>
          <a:prstGeom prst="rect">
            <a:avLst/>
          </a:prstGeom>
          <a:solidFill>
            <a:srgbClr val="FFF1E6"/>
          </a:solidFill>
          <a:ln w="19050">
            <a:solidFill>
              <a:srgbClr val="FF6600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0" u="sng">
                <a:solidFill>
                  <a:srgbClr val="1A1A1A"/>
                </a:solidFill>
                <a:latin typeface="Times New Roman"/>
              </a:rPr>
              <a:t>Client_ID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C24E00"/>
                </a:solidFill>
                <a:latin typeface="Times New Roman"/>
              </a:rPr>
              <a:t>Primary Key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6391" y="4956048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Company_Name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4956048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Contact_Person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33288" y="4956048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31736" y="4956048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Phone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852160"/>
            <a:ext cx="1325880" cy="676656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Release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37943" y="5852160"/>
            <a:ext cx="1243584" cy="676656"/>
          </a:xfrm>
          <a:prstGeom prst="rect">
            <a:avLst/>
          </a:prstGeom>
          <a:solidFill>
            <a:srgbClr val="FFF1E6"/>
          </a:solidFill>
          <a:ln w="19050">
            <a:solidFill>
              <a:srgbClr val="FF6600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0" u="sng">
                <a:solidFill>
                  <a:srgbClr val="1A1A1A"/>
                </a:solidFill>
                <a:latin typeface="Times New Roman"/>
              </a:rPr>
              <a:t>Release_ID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C24E00"/>
                </a:solidFill>
                <a:latin typeface="Times New Roman"/>
              </a:rPr>
              <a:t>Primary Key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36391" y="5852160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Release_Version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34840" y="5852160"/>
            <a:ext cx="1243584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1A1A1A"/>
                </a:solidFill>
                <a:latin typeface="Times New Roman"/>
              </a:rPr>
              <a:t>Release_Date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33288" y="5852160"/>
            <a:ext cx="1243584" cy="676656"/>
          </a:xfrm>
          <a:prstGeom prst="rect">
            <a:avLst/>
          </a:prstGeom>
          <a:solidFill>
            <a:srgbClr val="E3EBF7"/>
          </a:solidFill>
          <a:ln w="15875">
            <a:solidFill>
              <a:srgbClr val="17375E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200" b="1" i="1" u="none">
                <a:solidFill>
                  <a:srgbClr val="1A1A1A"/>
                </a:solidFill>
                <a:latin typeface="Times New Roman"/>
              </a:rPr>
              <a:t>Software_ID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17375E"/>
                </a:solidFill>
                <a:latin typeface="Times New Roman"/>
              </a:rPr>
              <a:t>FK → Software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793992"/>
            <a:ext cx="292608" cy="219456"/>
          </a:xfrm>
          <a:prstGeom prst="rect">
            <a:avLst/>
          </a:prstGeom>
          <a:solidFill>
            <a:srgbClr val="FFF1E6"/>
          </a:solidFill>
          <a:ln w="19050">
            <a:solidFill>
              <a:srgbClr val="FF66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4672" y="6775704"/>
            <a:ext cx="21945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 u="none">
                <a:solidFill>
                  <a:srgbClr val="1A1A1A"/>
                </a:solidFill>
                <a:latin typeface="Times New Roman"/>
              </a:rPr>
              <a:t>Primary Key (unique ID)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6793992"/>
            <a:ext cx="292608" cy="219456"/>
          </a:xfrm>
          <a:prstGeom prst="rect">
            <a:avLst/>
          </a:prstGeom>
          <a:solidFill>
            <a:srgbClr val="E3EBF7"/>
          </a:solidFill>
          <a:ln w="15875">
            <a:solidFill>
              <a:srgbClr val="17375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364992" y="6775704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 u="none">
                <a:solidFill>
                  <a:srgbClr val="1A1A1A"/>
                </a:solidFill>
                <a:latin typeface="Times New Roman"/>
              </a:rPr>
              <a:t>Foreign Key (references parent table)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6793992"/>
            <a:ext cx="29260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22592" y="6775704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 u="none">
                <a:solidFill>
                  <a:srgbClr val="1A1A1A"/>
                </a:solidFill>
                <a:latin typeface="Times New Roman"/>
              </a:rPr>
              <a:t>Regular attribute</a:t>
            </a:r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280160"/>
          <a:ext cx="9144000" cy="33284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Entity Table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Primary Key (PK)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Foreign Key (FK)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Referenced Table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Software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Software_ID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Base software product record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Developer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Developer_ID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1" u="none">
                          <a:solidFill>
                            <a:srgbClr val="1A1A1A"/>
                          </a:solidFill>
                          <a:latin typeface="Times New Roman"/>
                        </a:rPr>
                        <a:t>Project_ID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Project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Assigns developer to a project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Project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Project_ID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1" u="none">
                          <a:solidFill>
                            <a:srgbClr val="1A1A1A"/>
                          </a:solidFill>
                          <a:latin typeface="Times New Roman"/>
                        </a:rPr>
                        <a:t>Client_ID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Client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Links project to paying client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License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License_ID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1" u="none">
                          <a:solidFill>
                            <a:srgbClr val="1A1A1A"/>
                          </a:solidFill>
                          <a:latin typeface="Times New Roman"/>
                        </a:rPr>
                        <a:t>Software_ID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Software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Attaches license to software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Client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Client_ID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Base client company record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Release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u="none">
                          <a:solidFill>
                            <a:srgbClr val="1A1A1A"/>
                          </a:solidFill>
                          <a:latin typeface="Times New Roman"/>
                        </a:rPr>
                        <a:t>Release_ID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1" u="none">
                          <a:solidFill>
                            <a:srgbClr val="1A1A1A"/>
                          </a:solidFill>
                          <a:latin typeface="Times New Roman"/>
                        </a:rPr>
                        <a:t>Software_ID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Software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Connects release updates to software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82896"/>
            <a:ext cx="914400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KEY CONSTRAINTS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48656"/>
            <a:ext cx="9144000" cy="215798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321808"/>
            <a:ext cx="8961120" cy="20665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400" b="1" i="0" u="none">
                <a:solidFill>
                  <a:srgbClr val="17375E"/>
                </a:solidFill>
                <a:latin typeface="Times New Roman"/>
              </a:rPr>
              <a:t>Primary Key Constraint: </a:t>
            </a:r>
            <a:r>
              <a:rPr sz="1400" b="0" i="0" u="none">
                <a:solidFill>
                  <a:srgbClr val="1A1A1A"/>
                </a:solidFill>
                <a:latin typeface="Times New Roman"/>
              </a:rPr>
              <a:t>Guarantees unique ID values (e.g. Software_ID) to stop duplicate rows.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400" b="1" i="0" u="none">
                <a:solidFill>
                  <a:srgbClr val="17375E"/>
                </a:solidFill>
                <a:latin typeface="Times New Roman"/>
              </a:rPr>
              <a:t>Foreign Key Constraint: </a:t>
            </a:r>
            <a:r>
              <a:rPr sz="1400" b="0" i="0" u="none">
                <a:solidFill>
                  <a:srgbClr val="1A1A1A"/>
                </a:solidFill>
                <a:latin typeface="Times New Roman"/>
              </a:rPr>
              <a:t>Ensures child table records match a valid parent table entry (e.g., Client_ID in Project).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400" b="1" i="0" u="none">
                <a:solidFill>
                  <a:srgbClr val="17375E"/>
                </a:solidFill>
                <a:latin typeface="Times New Roman"/>
              </a:rPr>
              <a:t>NOT NULL Constraint: </a:t>
            </a:r>
            <a:r>
              <a:rPr sz="1400" b="0" i="0" u="none">
                <a:solidFill>
                  <a:srgbClr val="1A1A1A"/>
                </a:solidFill>
                <a:latin typeface="Times New Roman"/>
              </a:rPr>
              <a:t>Stops critical fields like Software_Name, Developer_Email, and Company_Name from being empty.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400" b="1" i="0" u="none">
                <a:solidFill>
                  <a:srgbClr val="17375E"/>
                </a:solidFill>
                <a:latin typeface="Times New Roman"/>
              </a:rPr>
              <a:t>UNIQUE Constraint: </a:t>
            </a:r>
            <a:r>
              <a:rPr sz="1400" b="0" i="0" u="none">
                <a:solidFill>
                  <a:srgbClr val="1A1A1A"/>
                </a:solidFill>
                <a:latin typeface="Times New Roman"/>
              </a:rPr>
              <a:t>Prevents duplicate values for keys like License_Key and developer Email.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400" b="1" i="0" u="none">
                <a:solidFill>
                  <a:srgbClr val="17375E"/>
                </a:solidFill>
                <a:latin typeface="Times New Roman"/>
              </a:rPr>
              <a:t>CHECK Constraint: </a:t>
            </a:r>
            <a:r>
              <a:rPr sz="1400" b="0" i="0" u="none">
                <a:solidFill>
                  <a:srgbClr val="1A1A1A"/>
                </a:solidFill>
                <a:latin typeface="Times New Roman"/>
              </a:rPr>
              <a:t>Validates valid numeric ranges like Budget &gt; 0 and Experience_Years &gt;= 0.</a:t>
            </a: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371600"/>
            <a:ext cx="914400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Times New Roman"/>
              </a:rPr>
              <a:t>GITHUB REPOSITORY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37360"/>
            <a:ext cx="9144000" cy="6857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847088"/>
            <a:ext cx="89611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7375E"/>
                </a:solidFill>
                <a:latin typeface="Times New Roman"/>
              </a:rPr>
              <a:t>Repository link:  </a:t>
            </a:r>
            <a:r>
              <a:rPr sz="1400" b="0" i="1" u="none">
                <a:solidFill>
                  <a:srgbClr val="6B7280"/>
                </a:solidFill>
                <a:latin typeface="Times New Roman"/>
              </a:rPr>
              <a:t>https://github.com/&lt;username&gt;/&lt;repository-name&gt;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43200"/>
            <a:ext cx="9144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7375E"/>
                </a:solidFill>
                <a:latin typeface="Times New Roman"/>
              </a:rPr>
              <a:t>TEAM RESPONSIBILITIES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459051"/>
              </p:ext>
            </p:extLst>
          </p:nvPr>
        </p:nvGraphicFramePr>
        <p:xfrm>
          <a:off x="457200" y="3154680"/>
          <a:ext cx="9144000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Team Member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Roll Number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Responsibility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J. Vasanth Kumar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25B11AI432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1" u="none" dirty="0">
                          <a:solidFill>
                            <a:srgbClr val="6B7280"/>
                          </a:solidFill>
                          <a:latin typeface="Times New Roman"/>
                        </a:rPr>
                        <a:t>Data Base Design and Table Creation</a:t>
                      </a:r>
                      <a:endParaRPr sz="1400" b="0" i="1" u="none" dirty="0">
                        <a:solidFill>
                          <a:srgbClr val="6B7280"/>
                        </a:solidFill>
                        <a:latin typeface="Times New Roman"/>
                      </a:endParaRP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M. Tanish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25B11AI644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1" u="none" dirty="0" err="1">
                          <a:solidFill>
                            <a:srgbClr val="6B7280"/>
                          </a:solidFill>
                          <a:latin typeface="Times New Roman"/>
                        </a:rPr>
                        <a:t>Constraints&amp;Primary</a:t>
                      </a:r>
                      <a:r>
                        <a:rPr lang="en-IN" sz="1400" b="0" i="1" u="none" dirty="0">
                          <a:solidFill>
                            <a:srgbClr val="6B7280"/>
                          </a:solidFill>
                          <a:latin typeface="Times New Roman"/>
                        </a:rPr>
                        <a:t> and Foreign keys setup</a:t>
                      </a:r>
                      <a:endParaRPr sz="1400" b="0" i="1" u="none" dirty="0">
                        <a:solidFill>
                          <a:srgbClr val="6B7280"/>
                        </a:solidFill>
                        <a:latin typeface="Times New Roman"/>
                      </a:endParaRP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 u="none" dirty="0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V. Jaswanth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25B11AIC39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1" u="none" dirty="0">
                          <a:solidFill>
                            <a:srgbClr val="6B7280"/>
                          </a:solidFill>
                          <a:latin typeface="Times New Roman"/>
                        </a:rPr>
                        <a:t>SQL </a:t>
                      </a:r>
                      <a:r>
                        <a:rPr lang="en-IN" sz="1400" b="0" i="1" u="none" dirty="0" err="1">
                          <a:solidFill>
                            <a:srgbClr val="6B7280"/>
                          </a:solidFill>
                          <a:latin typeface="Times New Roman"/>
                        </a:rPr>
                        <a:t>Queries,Joins,Aggregates&amp;Views</a:t>
                      </a:r>
                      <a:endParaRPr sz="1400" b="0" i="1" u="none" dirty="0">
                        <a:solidFill>
                          <a:srgbClr val="6B7280"/>
                        </a:solidFill>
                        <a:latin typeface="Times New Roman"/>
                      </a:endParaRP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K. Janardhana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25B11AI440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1" u="none" dirty="0">
                          <a:solidFill>
                            <a:srgbClr val="6B7280"/>
                          </a:solidFill>
                          <a:latin typeface="Times New Roman"/>
                        </a:rPr>
                        <a:t>Sample </a:t>
                      </a:r>
                      <a:r>
                        <a:rPr lang="en-IN" sz="1400" b="0" i="1" u="none" dirty="0" err="1">
                          <a:solidFill>
                            <a:srgbClr val="6B7280"/>
                          </a:solidFill>
                          <a:latin typeface="Times New Roman"/>
                        </a:rPr>
                        <a:t>Data,Integrity</a:t>
                      </a:r>
                      <a:r>
                        <a:rPr lang="en-IN" sz="1400" b="0" i="1" u="none" dirty="0">
                          <a:solidFill>
                            <a:srgbClr val="6B7280"/>
                          </a:solidFill>
                          <a:latin typeface="Times New Roman"/>
                        </a:rPr>
                        <a:t> Testing &amp;Documentation</a:t>
                      </a:r>
                      <a:endParaRPr sz="1400" b="0" i="1" u="none" dirty="0">
                        <a:solidFill>
                          <a:srgbClr val="6B7280"/>
                        </a:solidFill>
                        <a:latin typeface="Times New Roman"/>
                      </a:endParaRP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6355080"/>
            <a:ext cx="9144000" cy="5486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89611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7375E"/>
                </a:solidFill>
                <a:latin typeface="Times New Roman"/>
              </a:rPr>
              <a:t>Project Guide:  </a:t>
            </a:r>
            <a:r>
              <a:rPr sz="1400" b="0" i="0" u="none">
                <a:solidFill>
                  <a:srgbClr val="1A1A1A"/>
                </a:solidFill>
                <a:latin typeface="Times New Roman"/>
              </a:rPr>
              <a:t>Mrs. V.G.L. Narsamba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280160"/>
            <a:ext cx="4480560" cy="457200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1325880"/>
            <a:ext cx="4370832" cy="4480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Client (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Client_ID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PRIMARY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Company_Name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(100)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NOT NULL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Contact_Person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(80),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Email   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(100),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Phone   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(15)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);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Project (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Project_ID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PRIMARY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Project_Name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(100)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NOT NULL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Start_Date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DATE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End_Date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DATE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Budget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DECIMAL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(12,2)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CHECK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(Budget &gt; 0),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Client_ID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FOREIGN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(Client_ID)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REFERENCES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Client(Client_ID)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);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Developer (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Developer_ID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PRIMARY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Name      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(80)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NOT NULL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Role      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(50)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DEFAULT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0" i="0" u="none">
                <a:solidFill>
                  <a:srgbClr val="1B7F3B"/>
                </a:solidFill>
                <a:latin typeface="Courier New"/>
              </a:rPr>
              <a:t>'Developer'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Email     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(100)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NOT NULL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UNIQUE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Experience_Years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DEFAULT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0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CHECK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(Experience_Years &gt;= 0),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Project_ID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FOREIGN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(Project_ID)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REFERENCES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Project(Project_ID)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280160"/>
            <a:ext cx="4480560" cy="457200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75503" y="1325880"/>
            <a:ext cx="4370832" cy="4480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create the database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DATABASE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IF NOT EXISTS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SoftwareManagementDB;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USE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SoftwareManagementDB;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 (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Software_ID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PRIMARY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Software_Name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(100)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NOT NULL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Category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(50)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DEFAULT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0" i="0" u="none">
                <a:solidFill>
                  <a:srgbClr val="1B7F3B"/>
                </a:solidFill>
                <a:latin typeface="Courier New"/>
              </a:rPr>
              <a:t>'General'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Version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(20),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Language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(50)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);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License (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License_ID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PRIMARY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License_Key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(50)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NOT NULL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UNIQUE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Expiry_Date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DATE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Cost  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DECIMAL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(10,2),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Software_ID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FOREIGN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(Software_ID)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REFERENCES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Software(Software_ID)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);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`Release` (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Release_ID 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PRIMARY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Release_Version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VARCHAR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(20),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Release_Date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DATE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Software_ID     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FOREIGN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(Software_ID)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REFERENCES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Software(Software_ID)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5989320"/>
          <a:ext cx="9144000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Where it is applied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C24E00"/>
                          </a:solidFill>
                          <a:latin typeface="Times New Roman"/>
                        </a:rPr>
                        <a:t>NOT NULL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Software_Name, Developer Email, Company_Name, License_Key, Project_Name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C24E00"/>
                          </a:solidFill>
                          <a:latin typeface="Times New Roman"/>
                        </a:rPr>
                        <a:t>UNIQUE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License_Key, Developer Email (plus every PRIMARY KEY)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C24E00"/>
                          </a:solidFill>
                          <a:latin typeface="Times New Roman"/>
                        </a:rPr>
                        <a:t>CHECK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Budget &gt; 0,  Experience_Years &gt;= 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C24E00"/>
                          </a:solidFill>
                          <a:latin typeface="Times New Roman"/>
                        </a:rPr>
                        <a:t>DEFAULT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Category = 'General',  Role = 'Developer',  Experience_Years = 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280160"/>
            <a:ext cx="9144000" cy="91440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1325880"/>
            <a:ext cx="9034272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 u="none">
                <a:solidFill>
                  <a:srgbClr val="6B7280"/>
                </a:solidFill>
                <a:latin typeface="Courier New"/>
              </a:rPr>
              <a:t>-- sample_data.sql (excerpt): 43 rows across all 6 tables</a:t>
            </a:r>
          </a:p>
          <a:p>
            <a:pPr>
              <a:spcAft>
                <a:spcPts val="0"/>
              </a:spcAft>
            </a:pPr>
            <a:r>
              <a:rPr sz="1000" b="1" i="0" u="none">
                <a:solidFill>
                  <a:srgbClr val="17375E"/>
                </a:solidFill>
                <a:latin typeface="Courier New"/>
              </a:rPr>
              <a:t>INSERT INTO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 Client </a:t>
            </a:r>
            <a:r>
              <a:rPr sz="1000" b="1" i="0" u="none">
                <a:solidFill>
                  <a:srgbClr val="17375E"/>
                </a:solidFill>
                <a:latin typeface="Courier New"/>
              </a:rPr>
              <a:t>VALUES</a:t>
            </a:r>
          </a:p>
          <a:p>
            <a:pPr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Courier New"/>
              </a:rPr>
              <a:t> (1,</a:t>
            </a:r>
            <a:r>
              <a:rPr sz="1000" b="0" i="0" u="none">
                <a:solidFill>
                  <a:srgbClr val="1B7F3B"/>
                </a:solidFill>
                <a:latin typeface="Courier New"/>
              </a:rPr>
              <a:t>'TechNova Solutions'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,</a:t>
            </a:r>
            <a:r>
              <a:rPr sz="1000" b="0" i="0" u="none">
                <a:solidFill>
                  <a:srgbClr val="1B7F3B"/>
                </a:solidFill>
                <a:latin typeface="Courier New"/>
              </a:rPr>
              <a:t>'Ravi Kumar'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,</a:t>
            </a:r>
            <a:r>
              <a:rPr sz="1000" b="0" i="0" u="none">
                <a:solidFill>
                  <a:srgbClr val="1B7F3B"/>
                </a:solidFill>
                <a:latin typeface="Courier New"/>
              </a:rPr>
              <a:t>'ravi.kumar@technova.com'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,</a:t>
            </a:r>
            <a:r>
              <a:rPr sz="1000" b="0" i="0" u="none">
                <a:solidFill>
                  <a:srgbClr val="1B7F3B"/>
                </a:solidFill>
                <a:latin typeface="Courier New"/>
              </a:rPr>
              <a:t>'9876543210'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),</a:t>
            </a:r>
          </a:p>
          <a:p>
            <a:pPr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Courier New"/>
              </a:rPr>
              <a:t> (2,</a:t>
            </a:r>
            <a:r>
              <a:rPr sz="1000" b="0" i="0" u="none">
                <a:solidFill>
                  <a:srgbClr val="1B7F3B"/>
                </a:solidFill>
                <a:latin typeface="Courier New"/>
              </a:rPr>
              <a:t>'CloudEdge Systems'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,</a:t>
            </a:r>
            <a:r>
              <a:rPr sz="1000" b="0" i="0" u="none">
                <a:solidFill>
                  <a:srgbClr val="1B7F3B"/>
                </a:solidFill>
                <a:latin typeface="Courier New"/>
              </a:rPr>
              <a:t>'Anita Rao'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,</a:t>
            </a:r>
            <a:r>
              <a:rPr sz="1000" b="0" i="0" u="none">
                <a:solidFill>
                  <a:srgbClr val="1B7F3B"/>
                </a:solidFill>
                <a:latin typeface="Courier New"/>
              </a:rPr>
              <a:t>'anita.rao@cloudedge.com'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,</a:t>
            </a:r>
            <a:r>
              <a:rPr sz="1000" b="0" i="0" u="none">
                <a:solidFill>
                  <a:srgbClr val="1B7F3B"/>
                </a:solidFill>
                <a:latin typeface="Courier New"/>
              </a:rPr>
              <a:t>'9876501234'</a:t>
            </a:r>
            <a:r>
              <a:rPr sz="1000" b="0" i="0" u="none">
                <a:solidFill>
                  <a:srgbClr val="1A1A1A"/>
                </a:solidFill>
                <a:latin typeface="Courier New"/>
              </a:rPr>
              <a:t>),</a:t>
            </a:r>
          </a:p>
          <a:p>
            <a:pPr>
              <a:spcAft>
                <a:spcPts val="0"/>
              </a:spcAft>
            </a:pPr>
            <a:r>
              <a:rPr sz="100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1000" b="0" i="1" u="none">
                <a:solidFill>
                  <a:srgbClr val="6B7280"/>
                </a:solidFill>
                <a:latin typeface="Courier New"/>
              </a:rPr>
              <a:t>-- ... 3 more rows, then Project, Developer, Software, License and Release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77440"/>
            <a:ext cx="2926080" cy="32918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CLIENT  —  5 rows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2706624"/>
          <a:ext cx="292608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Client_ID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Company_Name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Contact_Person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TechNova Solutions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Ravi Kumar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CloudEdge Systems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Anita Rao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DataSphere Corp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Suresh Babu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FinServe Pvt Ltd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Meena Iyer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HealthPlus Labs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Arjun Reddy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379976"/>
            <a:ext cx="29260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 u="none">
                <a:solidFill>
                  <a:srgbClr val="6B7280"/>
                </a:solidFill>
                <a:latin typeface="Times New Roman"/>
              </a:rPr>
              <a:t>showing 5 of 5 rows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377440"/>
            <a:ext cx="2926080" cy="32918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PROJECT  —  6 rows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566160" y="2706624"/>
          <a:ext cx="292608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Project_ID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Project_Name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Budget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Inventory Manager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500000.00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102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 Billing Portal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850000.00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103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Analytics Dashboard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650000.00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Payments Gateway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1200000.00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105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Patient Records App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900000.00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566160" y="4379976"/>
            <a:ext cx="29260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 u="none">
                <a:solidFill>
                  <a:srgbClr val="6B7280"/>
                </a:solidFill>
                <a:latin typeface="Times New Roman"/>
              </a:rPr>
              <a:t>showing 5 of 6 rows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377440"/>
            <a:ext cx="2926080" cy="32918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DEVELOPER  —  8 rows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675120" y="2706624"/>
          <a:ext cx="292608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Developer_ID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Kiran Varma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Backend Developer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Priya Nair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Frontend Developer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Rahul Sharma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Full Stack Developer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Sneha Patel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QA Engineer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Amit Verma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DevOps Engineer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675120" y="4379976"/>
            <a:ext cx="29260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 u="none">
                <a:solidFill>
                  <a:srgbClr val="6B7280"/>
                </a:solidFill>
                <a:latin typeface="Times New Roman"/>
              </a:rPr>
              <a:t>showing 5 of 8 rows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2926080" cy="32918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SOFTWARE  —  6 rows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5221224"/>
          <a:ext cx="292608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Software_ID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Software_Name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InvenTrack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Inventory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CloudBill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Billing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DataViz Pro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Analytics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PayFlow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Finance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MediRecord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Healthcare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57200" y="6894576"/>
            <a:ext cx="29260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 u="none">
                <a:solidFill>
                  <a:srgbClr val="6B7280"/>
                </a:solidFill>
                <a:latin typeface="Times New Roman"/>
              </a:rPr>
              <a:t>showing 5 of 6 rows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4892040"/>
            <a:ext cx="2926080" cy="32918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LICENSE  —  8 rows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566160" y="5221224"/>
          <a:ext cx="292608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License_ID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License_Key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Expiry_Date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LIC-INV-2101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2026-11-30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LIC-INV-2102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2027-03-31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LIC-CBL-3101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2026-12-15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LIC-DVZ-4101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2027-08-31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LIC-DVZ-4102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2028-01-15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566160" y="6894576"/>
            <a:ext cx="29260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 u="none">
                <a:solidFill>
                  <a:srgbClr val="6B7280"/>
                </a:solidFill>
                <a:latin typeface="Times New Roman"/>
              </a:rPr>
              <a:t>showing 5 of 8 rows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4892040"/>
            <a:ext cx="2926080" cy="329184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RELEASE  —  10 rows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675120" y="5221224"/>
          <a:ext cx="292608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Release_ID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Release_Version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Software_ID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1.0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2.0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2.1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1.0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1.4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675120" y="6894576"/>
            <a:ext cx="29260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 u="none">
                <a:solidFill>
                  <a:srgbClr val="6B7280"/>
                </a:solidFill>
                <a:latin typeface="Times New Roman"/>
              </a:rPr>
              <a:t>showing 5 of 10 rows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280160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DDL  |  CREATE · ALTER · DROP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45920"/>
            <a:ext cx="2926080" cy="297180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1691640"/>
            <a:ext cx="2816352" cy="2880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ALTER: link software to project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ALTER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ADD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Project_ID </a:t>
            </a:r>
            <a:r>
              <a:rPr sz="950" b="0" i="0" u="none">
                <a:solidFill>
                  <a:srgbClr val="5B6B85"/>
                </a:solidFill>
                <a:latin typeface="Courier New"/>
              </a:rPr>
              <a:t>INT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ADD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FOREIGN KEY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(Project_ID)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  </a:t>
            </a:r>
            <a:r>
              <a:rPr sz="950" b="1" i="0" u="none">
                <a:solidFill>
                  <a:srgbClr val="C24E00"/>
                </a:solidFill>
                <a:latin typeface="Courier New"/>
              </a:rPr>
              <a:t>REFERENCES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Project(Project_ID);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CREATE INDEX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INDEX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idx_license_expiry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ON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License(Expiry_Date);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CREATE / DROP a table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Client_Backup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AS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*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Client;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DROP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TABLE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Client_Backup;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280160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DML  |  INSERT · UPDATE · DELETE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1645920"/>
            <a:ext cx="2926080" cy="297180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21024" y="1691640"/>
            <a:ext cx="2816352" cy="2880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INSERT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INSERT INTO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Client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VALUES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(6,</a:t>
            </a:r>
            <a:r>
              <a:rPr sz="950" b="0" i="0" u="none">
                <a:solidFill>
                  <a:srgbClr val="1B7F3B"/>
                </a:solidFill>
                <a:latin typeface="Courier New"/>
              </a:rPr>
              <a:t>'GreenByte Inc'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  <a:r>
              <a:rPr sz="950" b="0" i="0" u="none">
                <a:solidFill>
                  <a:srgbClr val="1B7F3B"/>
                </a:solidFill>
                <a:latin typeface="Courier New"/>
              </a:rPr>
              <a:t>'Lakshmi Devi'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0" i="0" u="none">
                <a:solidFill>
                  <a:srgbClr val="1B7F3B"/>
                </a:solidFill>
                <a:latin typeface="Courier New"/>
              </a:rPr>
              <a:t>'lakshmi@greenbyte.com'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,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0" i="0" u="none">
                <a:solidFill>
                  <a:srgbClr val="1B7F3B"/>
                </a:solidFill>
                <a:latin typeface="Courier New"/>
              </a:rPr>
              <a:t>'9123456780'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);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UPDATE (link each software)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UPDATE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SET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Project_ID = Software_ID + 100;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UPDATE (renew a license)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UPDATE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License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SET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Expiry_Date = </a:t>
            </a:r>
            <a:r>
              <a:rPr sz="950" b="0" i="0" u="none">
                <a:solidFill>
                  <a:srgbClr val="1B7F3B"/>
                </a:solidFill>
                <a:latin typeface="Courier New"/>
              </a:rPr>
              <a:t>'2027-10-31'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License_ID = 7;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DELETE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DELETE FROM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Client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Client_ID = 6;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280160"/>
            <a:ext cx="292608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Times New Roman"/>
              </a:rPr>
              <a:t>DQL  |  SELECT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645920"/>
            <a:ext cx="2926080" cy="297180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9984" y="1691640"/>
            <a:ext cx="2816352" cy="2880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SELECT with WHERE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Software_Name, Version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Language = </a:t>
            </a:r>
            <a:r>
              <a:rPr sz="950" b="0" i="0" u="none">
                <a:solidFill>
                  <a:srgbClr val="1B7F3B"/>
                </a:solidFill>
                <a:latin typeface="Courier New"/>
              </a:rPr>
              <a:t>'Java'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ORDER BY + LIMIT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Project_Name, Budget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Project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ORDER BY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Budget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DESC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LIMIT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3;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1" u="none">
                <a:solidFill>
                  <a:srgbClr val="6B7280"/>
                </a:solidFill>
                <a:latin typeface="Courier New"/>
              </a:rPr>
              <a:t>-- DISTINCT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DISTINCT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Category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Software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ORDER BY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Category;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2926080" cy="310896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4800600"/>
            <a:ext cx="2926080" cy="310896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800600"/>
            <a:ext cx="2926080" cy="310896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OUTPUT  (top 3 budgets)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11496"/>
            <a:ext cx="2926080" cy="21031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66160" y="5111496"/>
            <a:ext cx="2926080" cy="21031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75120" y="5111496"/>
            <a:ext cx="2926080" cy="21031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5175504"/>
            <a:ext cx="283464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700"/>
              </a:spcAft>
              <a:buClr>
                <a:srgbClr val="FF6600"/>
              </a:buClr>
              <a:buFont typeface="Arial"/>
              <a:buChar char="•"/>
            </a:pPr>
            <a:r>
              <a:rPr sz="1250" b="0" i="0" u="none">
                <a:solidFill>
                  <a:srgbClr val="1A1A1A"/>
                </a:solidFill>
                <a:latin typeface="Times New Roman"/>
              </a:rPr>
              <a:t>Software now has a Project_ID foreign key.</a:t>
            </a:r>
          </a:p>
          <a:p>
            <a:pPr marL="201168" indent="-201168" algn="l">
              <a:spcAft>
                <a:spcPts val="700"/>
              </a:spcAft>
              <a:buClr>
                <a:srgbClr val="FF6600"/>
              </a:buClr>
              <a:buFont typeface="Arial"/>
              <a:buChar char="•"/>
            </a:pPr>
            <a:r>
              <a:rPr sz="1250" b="0" i="0" u="none">
                <a:solidFill>
                  <a:srgbClr val="1A1A1A"/>
                </a:solidFill>
                <a:latin typeface="Times New Roman"/>
              </a:rPr>
              <a:t>Index created on License(Expiry_Date).</a:t>
            </a:r>
          </a:p>
          <a:p>
            <a:pPr marL="201168" indent="-201168" algn="l">
              <a:spcAft>
                <a:spcPts val="700"/>
              </a:spcAft>
              <a:buClr>
                <a:srgbClr val="FF6600"/>
              </a:buClr>
              <a:buFont typeface="Arial"/>
              <a:buChar char="•"/>
            </a:pPr>
            <a:r>
              <a:rPr sz="1250" b="0" i="0" u="none">
                <a:solidFill>
                  <a:srgbClr val="1A1A1A"/>
                </a:solidFill>
                <a:latin typeface="Times New Roman"/>
              </a:rPr>
              <a:t>Backup table created, then dropped.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175504"/>
            <a:ext cx="283464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700"/>
              </a:spcAft>
              <a:buClr>
                <a:srgbClr val="FF6600"/>
              </a:buClr>
              <a:buFont typeface="Arial"/>
              <a:buChar char="•"/>
            </a:pPr>
            <a:r>
              <a:rPr sz="1250" b="0" i="0" u="none">
                <a:solidFill>
                  <a:srgbClr val="1A1A1A"/>
                </a:solidFill>
                <a:latin typeface="Times New Roman"/>
              </a:rPr>
              <a:t>New client row inserted, then deleted (5 rows remain).</a:t>
            </a:r>
          </a:p>
          <a:p>
            <a:pPr marL="201168" indent="-201168" algn="l">
              <a:spcAft>
                <a:spcPts val="700"/>
              </a:spcAft>
              <a:buClr>
                <a:srgbClr val="FF6600"/>
              </a:buClr>
              <a:buFont typeface="Arial"/>
              <a:buChar char="•"/>
            </a:pPr>
            <a:r>
              <a:rPr sz="1250" b="0" i="0" u="none">
                <a:solidFill>
                  <a:srgbClr val="1A1A1A"/>
                </a:solidFill>
                <a:latin typeface="Times New Roman"/>
              </a:rPr>
              <a:t>All 6 software products linked to projects 101–106.</a:t>
            </a:r>
          </a:p>
          <a:p>
            <a:pPr marL="201168" indent="-201168" algn="l">
              <a:spcAft>
                <a:spcPts val="700"/>
              </a:spcAft>
              <a:buClr>
                <a:srgbClr val="FF6600"/>
              </a:buClr>
              <a:buFont typeface="Arial"/>
              <a:buChar char="•"/>
            </a:pPr>
            <a:r>
              <a:rPr sz="1250" b="0" i="0" u="none">
                <a:solidFill>
                  <a:srgbClr val="1A1A1A"/>
                </a:solidFill>
                <a:latin typeface="Times New Roman"/>
              </a:rPr>
              <a:t>License 7 renewed to 2027-10-31.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748272" y="5212080"/>
          <a:ext cx="2779775" cy="11704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Project_Name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Budget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Payments Gateway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1200000.00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Patient Records App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900000.00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 Billing Portal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850000.00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207008"/>
            <a:ext cx="54864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17375E"/>
                </a:solidFill>
                <a:latin typeface="Times New Roman"/>
              </a:rPr>
              <a:t>CRUD OPERATIONS  (Developer table)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481328"/>
            <a:ext cx="4480560" cy="27432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CREATE — add a new developer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755648"/>
            <a:ext cx="4480560" cy="64008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1801368"/>
            <a:ext cx="4370832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INSERT INTO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Developer (Developer_ID, Name, Email)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VALUES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(9, </a:t>
            </a:r>
            <a:r>
              <a:rPr sz="1050" b="0" i="0" u="none">
                <a:solidFill>
                  <a:srgbClr val="1B7F3B"/>
                </a:solidFill>
                <a:latin typeface="Courier New"/>
              </a:rPr>
              <a:t>'Ishaan Roy'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, </a:t>
            </a:r>
            <a:r>
              <a:rPr sz="1050" b="0" i="0" u="none">
                <a:solidFill>
                  <a:srgbClr val="1B7F3B"/>
                </a:solidFill>
                <a:latin typeface="Courier New"/>
              </a:rPr>
              <a:t>'ishaan@mail.com'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481328"/>
            <a:ext cx="4480560" cy="27432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READ — developers with 5+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755648"/>
            <a:ext cx="4480560" cy="64008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3" y="1801368"/>
            <a:ext cx="4370832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Name, Role, Experience_Years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Developer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Experience_Years &gt;= 5;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50592"/>
            <a:ext cx="4480560" cy="27432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UPDATE — change a developer's role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24912"/>
            <a:ext cx="4480560" cy="64008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2770632"/>
            <a:ext cx="4370832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UPDATE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Developer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SET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Role = </a:t>
            </a:r>
            <a:r>
              <a:rPr sz="1050" b="0" i="0" u="none">
                <a:solidFill>
                  <a:srgbClr val="1B7F3B"/>
                </a:solidFill>
                <a:latin typeface="Courier New"/>
              </a:rPr>
              <a:t>'Senior Backend Developer'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Developer_ID = 1;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450592"/>
            <a:ext cx="4480560" cy="27432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DELETE — remove a record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724912"/>
            <a:ext cx="4480560" cy="64008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75503" y="2770632"/>
            <a:ext cx="4370832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DELETE FROM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Developer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Developer_ID = 9;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56432"/>
            <a:ext cx="73152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17375E"/>
                </a:solidFill>
                <a:latin typeface="Times New Roman"/>
              </a:rPr>
              <a:t>JOINS, AGGREGATES, VIEWS &amp; SUB-QUERIES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30752"/>
            <a:ext cx="4480560" cy="2743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JOIN — project, client and software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005072"/>
            <a:ext cx="4480560" cy="141732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" y="4050791"/>
            <a:ext cx="4370832" cy="1325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p.Project_Name, c.Company_Name,</a:t>
            </a:r>
          </a:p>
          <a:p>
            <a:pPr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Courier New"/>
              </a:rPr>
              <a:t>       s.Software_Name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Project p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JOIN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Client c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ON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p.Client_ID = c.Client_ID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JOIN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Software s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ON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s.Project_ID = p.Project_ID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ORDER BY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p.Project_ID;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3730752"/>
            <a:ext cx="4480560" cy="2743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AGGREGATE — team size and average experience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4005072"/>
            <a:ext cx="4480560" cy="141732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75503" y="4050791"/>
            <a:ext cx="4370832" cy="1325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p.Project_Name,</a:t>
            </a:r>
          </a:p>
          <a:p>
            <a:pPr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Courier New"/>
              </a:rPr>
              <a:t>      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COUNT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(d.Developer_ID)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AS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Team_Size,</a:t>
            </a:r>
          </a:p>
          <a:p>
            <a:pPr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Courier New"/>
              </a:rPr>
              <a:t>      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ROUND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(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AVG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(d.Experience_Years), 1)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AS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Avg_Exp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Project p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LEFT JOIN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Developer d</a:t>
            </a:r>
          </a:p>
          <a:p>
            <a:pPr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ON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d.Project_ID = p.Project_ID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GROUP BY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p.Project_ID, p.Project_Name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ORDER BY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Team_Size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DESC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, p.Project_ID;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532120"/>
            <a:ext cx="4480560" cy="2743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VIEW — licenses expiring before 2027-04-01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4480560" cy="118872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2064" y="5852159"/>
            <a:ext cx="4370832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CREATE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VIEW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License_Expiry_View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AS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s.Software_Name, l.License_Key,</a:t>
            </a:r>
          </a:p>
          <a:p>
            <a:pPr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Courier New"/>
              </a:rPr>
              <a:t>       l.Expiry_Date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License l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JOIN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Software s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ON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l.Software_ID = s.Software_ID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l.Expiry_Date &lt; </a:t>
            </a:r>
            <a:r>
              <a:rPr sz="1050" b="0" i="0" u="none">
                <a:solidFill>
                  <a:srgbClr val="1B7F3B"/>
                </a:solidFill>
                <a:latin typeface="Courier New"/>
              </a:rPr>
              <a:t>'2027-04-01'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5532120"/>
            <a:ext cx="4480560" cy="2743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SUB-QUERY — budget above the average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5806440"/>
            <a:ext cx="4480560" cy="1188720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75503" y="5852159"/>
            <a:ext cx="4370832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Project_Name, Budget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Project</a:t>
            </a:r>
          </a:p>
          <a:p>
            <a:pPr>
              <a:spcAft>
                <a:spcPts val="0"/>
              </a:spcAft>
            </a:pPr>
            <a:r>
              <a:rPr sz="10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Budget &gt; (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AVG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(Budget)</a:t>
            </a:r>
          </a:p>
          <a:p>
            <a:pPr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Courier New"/>
              </a:rPr>
              <a:t>                </a:t>
            </a:r>
            <a:r>
              <a:rPr sz="10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 Project);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280160"/>
          <a:ext cx="9144000" cy="44256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Test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SQL statement tried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Outcome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Duplicate primary key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INSERT INTO Client (Client_ID, Company_Name) VALUES (1, 'Duplicate Co');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B42318"/>
                          </a:solidFill>
                          <a:latin typeface="Times New Roman"/>
                        </a:rPr>
                        <a:t>REJECTED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PRIMARY KEY: Client_ID 1 already exists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Duplicate license key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INSERT INTO License VALUES (9, 'LIC-INV-2101', '2027-01-01', 1000, 1);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B42318"/>
                          </a:solidFill>
                          <a:latin typeface="Times New Roman"/>
                        </a:rPr>
                        <a:t>REJECTED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UNIQUE: License_Key already used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Duplicate developer email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INSERT INTO Developer (Developer_ID, Name, Email) VALUES (10, 'Test', 'amit.verma@mail.com');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B42318"/>
                          </a:solidFill>
                          <a:latin typeface="Times New Roman"/>
                        </a:rPr>
                        <a:t>REJECTED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UNIQUE: Email already used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Missing required value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INSERT INTO Software (Software_ID, Category) VALUES (7, 'Testing');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B42318"/>
                          </a:solidFill>
                          <a:latin typeface="Times New Roman"/>
                        </a:rPr>
                        <a:t>REJECTED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NOT NULL: Software_Name is required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Invalid budget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INSERT INTO Project (Project_ID, Project_Name, Budget) VALUES (107, 'Test', -5000);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B42318"/>
                          </a:solidFill>
                          <a:latin typeface="Times New Roman"/>
                        </a:rPr>
                        <a:t>REJECTED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CHECK: Budget must be &gt; 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Negative experience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UPDATE Developer SET Experience_Years = -2 WHERE Developer_ID = 1;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B42318"/>
                          </a:solidFill>
                          <a:latin typeface="Times New Roman"/>
                        </a:rPr>
                        <a:t>REJECTED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CHECK: Experience_Years must be &gt;= 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Orphan foreign key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INSERT INTO Developer (Developer_ID, Name, Email, Project_ID) VALUES (10, 'Test', 't@mail.com', 999);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B42318"/>
                          </a:solidFill>
                          <a:latin typeface="Times New Roman"/>
                        </a:rPr>
                        <a:t>REJECTED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FOREIGN KEY: Project 999 does not exist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Delete a parent in use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DELETE FROM Client WHERE Client_ID = 1;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B42318"/>
                          </a:solidFill>
                          <a:latin typeface="Times New Roman"/>
                        </a:rPr>
                        <a:t>REJECTED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FOREIGN KEY: Client 1 still has projects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DEFAULT values applied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 u="none">
                          <a:solidFill>
                            <a:srgbClr val="1A1A1A"/>
                          </a:solidFill>
                          <a:latin typeface="Courier New"/>
                        </a:rPr>
                        <a:t>INSERT INTO Developer (Developer_ID, Name, Email) VALUES (11, 'Test', 'test@mail.com');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>
                          <a:solidFill>
                            <a:srgbClr val="1B7F3B"/>
                          </a:solidFill>
                          <a:latin typeface="Times New Roman"/>
                        </a:rPr>
                        <a:t>ACCEPTED</a:t>
                      </a:r>
                    </a:p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Role = 'Developer', Experience_Years = 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888736"/>
            <a:ext cx="4480560" cy="29260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VALIDATION 1 — duplicate developer e-mails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81344"/>
            <a:ext cx="4480560" cy="1225295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6227064"/>
            <a:ext cx="4370832" cy="113385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Email,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COUNT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(*)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Developer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GROUP BY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Email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HAVING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COUNT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(*) &gt; 1;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077455"/>
            <a:ext cx="4297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A1A1A"/>
                </a:solidFill>
                <a:latin typeface="Times New Roman"/>
              </a:rPr>
              <a:t>Result: </a:t>
            </a:r>
            <a:r>
              <a:rPr sz="1100" b="1" i="0" u="none">
                <a:solidFill>
                  <a:srgbClr val="1B7F3B"/>
                </a:solidFill>
                <a:latin typeface="Times New Roman"/>
              </a:rPr>
              <a:t>0 rows — no duplicates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5888736"/>
            <a:ext cx="4480560" cy="29260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VALIDATION 2 — orphan foreign keys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6181344"/>
            <a:ext cx="4480560" cy="1225295"/>
          </a:xfrm>
          <a:prstGeom prst="rect">
            <a:avLst/>
          </a:prstGeom>
          <a:solidFill>
            <a:srgbClr val="F4F6FA"/>
          </a:solidFill>
          <a:ln w="9525">
            <a:solidFill>
              <a:srgbClr val="B8C4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75503" y="6227064"/>
            <a:ext cx="4370832" cy="113385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SELECT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d.Developer_ID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FROM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Developer d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LEFT JOIN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Project p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ON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d.Project_ID = p.Project_ID</a:t>
            </a:r>
          </a:p>
          <a:p>
            <a:pPr>
              <a:spcAft>
                <a:spcPts val="0"/>
              </a:spcAft>
            </a:pPr>
            <a:r>
              <a:rPr sz="950" b="1" i="0" u="none">
                <a:solidFill>
                  <a:srgbClr val="17375E"/>
                </a:solidFill>
                <a:latin typeface="Courier New"/>
              </a:rPr>
              <a:t>WHERE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d.Project_ID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IS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NOT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NULL</a:t>
            </a:r>
          </a:p>
          <a:p>
            <a:pPr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Courier New"/>
              </a:rPr>
              <a:t> 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AND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p.Project_ID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IS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 </a:t>
            </a:r>
            <a:r>
              <a:rPr sz="950" b="1" i="0" u="none">
                <a:solidFill>
                  <a:srgbClr val="17375E"/>
                </a:solidFill>
                <a:latin typeface="Courier New"/>
              </a:rPr>
              <a:t>NULL</a:t>
            </a:r>
            <a:r>
              <a:rPr sz="950" b="0" i="0" u="none">
                <a:solidFill>
                  <a:srgbClr val="1A1A1A"/>
                </a:solidFill>
                <a:latin typeface="Courier New"/>
              </a:rPr>
              <a:t>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7077455"/>
            <a:ext cx="4297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A1A1A"/>
                </a:solidFill>
                <a:latin typeface="Times New Roman"/>
              </a:rPr>
              <a:t>Result: </a:t>
            </a:r>
            <a:r>
              <a:rPr sz="1100" b="1" i="0" u="none">
                <a:solidFill>
                  <a:srgbClr val="1B7F3B"/>
                </a:solidFill>
                <a:latin typeface="Times New Roman"/>
              </a:rPr>
              <a:t>0 rows — every FK has a parent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280160"/>
            <a:ext cx="448056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Times New Roman"/>
              </a:rPr>
              <a:t>ER DIAGRAM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45919"/>
            <a:ext cx="4480560" cy="21031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755648"/>
            <a:ext cx="42976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Chen-notation diagram of 6 entities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5 one-to-many relationships with 1 / M marks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Primary keys underlined, attributes on every entity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Relationships: Orders, Assigns, Manages, Has, Releases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1280160"/>
            <a:ext cx="448056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Times New Roman"/>
              </a:rPr>
              <a:t>RELATIONAL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645919"/>
            <a:ext cx="4480560" cy="21031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79" y="1755648"/>
            <a:ext cx="42976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6 relations with PK and FK attributes marked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Keys table: PK, FK, referenced table, purpose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NOT NULL, UNIQUE, CHECK and DEFAULT rules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One row per relation, keys highlighted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448056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Times New Roman"/>
              </a:rPr>
              <a:t>SQL 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51960"/>
            <a:ext cx="4480560" cy="21031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343400"/>
            <a:ext cx="42976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1000"/>
              </a:spcAft>
              <a:buClr>
                <a:srgbClr val="FF6600"/>
              </a:buClr>
              <a:buFont typeface="Arial"/>
              <a:buChar char="•"/>
            </a:pPr>
            <a:r>
              <a:rPr sz="1150" b="1" i="0" u="none">
                <a:solidFill>
                  <a:srgbClr val="17375E"/>
                </a:solidFill>
                <a:latin typeface="Courier New"/>
              </a:rPr>
              <a:t>schema.sql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  database, tables, constraints</a:t>
            </a:r>
          </a:p>
          <a:p>
            <a:pPr marL="201168" indent="-201168" algn="l">
              <a:spcAft>
                <a:spcPts val="1000"/>
              </a:spcAft>
              <a:buClr>
                <a:srgbClr val="FF6600"/>
              </a:buClr>
              <a:buFont typeface="Arial"/>
              <a:buChar char="•"/>
            </a:pPr>
            <a:r>
              <a:rPr sz="1150" b="1" i="0" u="none">
                <a:solidFill>
                  <a:srgbClr val="17375E"/>
                </a:solidFill>
                <a:latin typeface="Courier New"/>
              </a:rPr>
              <a:t>sample_data.sql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  43 rows in 6 tables</a:t>
            </a:r>
          </a:p>
          <a:p>
            <a:pPr marL="201168" indent="-201168" algn="l">
              <a:spcAft>
                <a:spcPts val="1000"/>
              </a:spcAft>
              <a:buClr>
                <a:srgbClr val="FF6600"/>
              </a:buClr>
              <a:buFont typeface="Arial"/>
              <a:buChar char="•"/>
            </a:pPr>
            <a:r>
              <a:rPr sz="1150" b="1" i="0" u="none">
                <a:solidFill>
                  <a:srgbClr val="17375E"/>
                </a:solidFill>
                <a:latin typeface="Courier New"/>
              </a:rPr>
              <a:t>queries.sql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  DDL, DML, DQL, CRUD, joins, view</a:t>
            </a:r>
          </a:p>
          <a:p>
            <a:pPr marL="201168" indent="-201168" algn="l">
              <a:spcAft>
                <a:spcPts val="1000"/>
              </a:spcAft>
              <a:buClr>
                <a:srgbClr val="FF6600"/>
              </a:buClr>
              <a:buFont typeface="Arial"/>
              <a:buChar char="•"/>
            </a:pPr>
            <a:r>
              <a:rPr sz="1150" b="1" i="0" u="none">
                <a:solidFill>
                  <a:srgbClr val="17375E"/>
                </a:solidFill>
                <a:latin typeface="Courier New"/>
              </a:rPr>
              <a:t>integrity_tests.sql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  constraint and validation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3886200"/>
            <a:ext cx="448056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Times New Roman"/>
              </a:rPr>
              <a:t>SCREENSHOTS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4251960"/>
            <a:ext cx="4480560" cy="21031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79" y="4361688"/>
            <a:ext cx="42976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Database and tables created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Sample data in every table (SELECT *)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DDL, DML and CRUD output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Join, aggregate and view output</a:t>
            </a:r>
          </a:p>
          <a:p>
            <a:pPr marL="201168" indent="-201168" algn="l">
              <a:spcAft>
                <a:spcPts val="800"/>
              </a:spcAft>
              <a:buClr>
                <a:srgbClr val="FF6600"/>
              </a:buClr>
              <a:buFont typeface="Arial"/>
              <a:buChar char="•"/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Constraint violations being rejected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9144000" cy="566928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96112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u="none">
                <a:solidFill>
                  <a:srgbClr val="17375E"/>
                </a:solidFill>
                <a:latin typeface="Times New Roman"/>
              </a:rPr>
              <a:t>README.md  </a:t>
            </a:r>
            <a:r>
              <a:rPr sz="1250" b="0" i="0" u="none">
                <a:solidFill>
                  <a:srgbClr val="1A1A1A"/>
                </a:solidFill>
                <a:latin typeface="Times New Roman"/>
              </a:rPr>
              <a:t>project overview, team, and run order:  schema.sql → sample_data.sql → queries.sql → integrity_tests.sql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280160"/>
            <a:ext cx="3657600" cy="8412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8640" y="1472184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1335024"/>
            <a:ext cx="29718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Create the database</a:t>
            </a:r>
          </a:p>
          <a:p>
            <a:pPr algn="l">
              <a:spcAft>
                <a:spcPts val="100"/>
              </a:spcAft>
            </a:pPr>
            <a:r>
              <a:rPr sz="1100" b="0" i="0" u="none">
                <a:solidFill>
                  <a:srgbClr val="6B7280"/>
                </a:solidFill>
                <a:latin typeface="Times New Roman"/>
              </a:rPr>
              <a:t>schema.sql builds 6 tables with keys and constraints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12848"/>
            <a:ext cx="3657600" cy="8412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267712"/>
            <a:ext cx="29718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Load sample data</a:t>
            </a:r>
          </a:p>
          <a:p>
            <a:pPr algn="l">
              <a:spcAft>
                <a:spcPts val="100"/>
              </a:spcAft>
            </a:pPr>
            <a:r>
              <a:rPr sz="1100" b="0" i="0" u="none">
                <a:solidFill>
                  <a:srgbClr val="6B7280"/>
                </a:solidFill>
                <a:latin typeface="Times New Roman"/>
              </a:rPr>
              <a:t>43 rows across all 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45536"/>
            <a:ext cx="3657600" cy="8412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200400"/>
            <a:ext cx="29718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Run DDL, DML &amp; DQL</a:t>
            </a:r>
          </a:p>
          <a:p>
            <a:pPr algn="l">
              <a:spcAft>
                <a:spcPts val="100"/>
              </a:spcAft>
            </a:pPr>
            <a:r>
              <a:rPr sz="1100" b="0" i="0" u="none">
                <a:solidFill>
                  <a:srgbClr val="6B7280"/>
                </a:solidFill>
                <a:latin typeface="Times New Roman"/>
              </a:rPr>
              <a:t>ALTER, INSERT, UPDATE, DELETE and SELECT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78224"/>
            <a:ext cx="3657600" cy="8412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133087"/>
            <a:ext cx="29718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Show CRUD &amp; queries</a:t>
            </a:r>
          </a:p>
          <a:p>
            <a:pPr algn="l">
              <a:spcAft>
                <a:spcPts val="100"/>
              </a:spcAft>
            </a:pPr>
            <a:r>
              <a:rPr sz="1100" b="0" i="0" u="none">
                <a:solidFill>
                  <a:srgbClr val="6B7280"/>
                </a:solidFill>
                <a:latin typeface="Times New Roman"/>
              </a:rPr>
              <a:t>joins, aggregates, view, sub-query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10912"/>
            <a:ext cx="3657600" cy="8412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48640" y="5202936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65776"/>
            <a:ext cx="29718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Test data integrity</a:t>
            </a:r>
          </a:p>
          <a:p>
            <a:pPr algn="l">
              <a:spcAft>
                <a:spcPts val="100"/>
              </a:spcAft>
            </a:pPr>
            <a:r>
              <a:rPr sz="1100" b="0" i="0" u="none">
                <a:solidFill>
                  <a:srgbClr val="6B7280"/>
                </a:solidFill>
                <a:latin typeface="Times New Roman"/>
              </a:rPr>
              <a:t>invalid rows are rejected by the constraints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3657600" cy="8412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8640" y="6135624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998464"/>
            <a:ext cx="29718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Present &amp; Q&amp;A</a:t>
            </a:r>
          </a:p>
          <a:p>
            <a:pPr algn="l">
              <a:spcAft>
                <a:spcPts val="100"/>
              </a:spcAft>
            </a:pPr>
            <a:r>
              <a:rPr sz="1100" b="0" i="0" u="none">
                <a:solidFill>
                  <a:srgbClr val="6B7280"/>
                </a:solidFill>
                <a:latin typeface="Times New Roman"/>
              </a:rPr>
              <a:t>walk through design, results and learnings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1280160"/>
            <a:ext cx="5257800" cy="2743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JOIN — project, client and software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343400" y="1554480"/>
          <a:ext cx="5257800" cy="17922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Project_Name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Company_Name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Software_Name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Inventory Manager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TechNova Solutions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InvenTrack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 Billing Portal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CloudEdge Systems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CloudBill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Analytics Dashboard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DataSphere Corp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DataViz Pro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Payments Gateway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FinServe Pvt Ltd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PayFlow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Patient Records App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HealthPlus Labs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MediRecord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Mobile CRM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TechNova Solutions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ClientLink CRM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4343400" y="3483864"/>
            <a:ext cx="5257800" cy="2743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AGGREGATE — team size and average experience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4343400" y="3758184"/>
          <a:ext cx="5257800" cy="17922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Project_Name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Team_Size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Avg_Exp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Inventory Manager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3.5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Analytics Dashboard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4.5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 Billing Portal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6.0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Payments Gateway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5.0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Patient Records App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8.0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Mobile CRM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9.0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Rectangle 39"/>
          <p:cNvSpPr/>
          <p:nvPr/>
        </p:nvSpPr>
        <p:spPr>
          <a:xfrm>
            <a:off x="4343400" y="5687568"/>
            <a:ext cx="5257800" cy="27432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09728" tIns="9144" rIns="73152" bIns="9144" rtlCol="0" anchor="ctr"/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Times New Roman"/>
              </a:rPr>
              <a:t>VIEW — licenses expiring before 2027-04-01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343400" y="5961888"/>
          <a:ext cx="5257800" cy="10241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Software_Name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License_Key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 u="none">
                          <a:solidFill>
                            <a:srgbClr val="17375E"/>
                          </a:solidFill>
                          <a:latin typeface="Times New Roman"/>
                        </a:rPr>
                        <a:t>Expiry_Date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3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InvenTrack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LIC-INV-2101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2026-11-30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CloudBill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LIC-CBL-3101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2026-12-15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InvenTrack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LIC-INV-2102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 u="none">
                          <a:solidFill>
                            <a:srgbClr val="1A1A1A"/>
                          </a:solidFill>
                          <a:latin typeface="Times New Roman"/>
                        </a:rPr>
                        <a:t>2027-03-31</a:t>
                      </a:r>
                    </a:p>
                  </a:txBody>
                  <a:tcPr marL="73152" marR="54864" marT="27432" marB="27432" anchor="ctr">
                    <a:lnL w="9525">
                      <a:solidFill>
                        <a:srgbClr val="B8C4D6"/>
                      </a:solidFill>
                    </a:lnL>
                    <a:lnR w="9525">
                      <a:solidFill>
                        <a:srgbClr val="B8C4D6"/>
                      </a:solidFill>
                    </a:lnR>
                    <a:lnT w="9525">
                      <a:solidFill>
                        <a:srgbClr val="B8C4D6"/>
                      </a:solidFill>
                    </a:lnT>
                    <a:lnB w="9525">
                      <a:solidFill>
                        <a:srgbClr val="B8C4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1325880"/>
            <a:ext cx="914400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Times New Roman"/>
              </a:rPr>
              <a:t>SUMMARY OF DATABASE DESIGN &amp;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91640"/>
            <a:ext cx="9144000" cy="19202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764792"/>
            <a:ext cx="896112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FF6600"/>
              </a:buClr>
              <a:buFont typeface="Arial"/>
              <a:buChar char="•"/>
            </a:pPr>
            <a:r>
              <a:rPr sz="1450" b="0" i="0" u="none">
                <a:solidFill>
                  <a:srgbClr val="1A1A1A"/>
                </a:solidFill>
                <a:latin typeface="Times New Roman"/>
              </a:rPr>
              <a:t>A relational database for software products, developers, clients, projects, licenses, and releases was designed and implemented.</a:t>
            </a:r>
          </a:p>
          <a:p>
            <a:pPr marL="201168" indent="-201168" algn="l">
              <a:spcAft>
                <a:spcPts val="600"/>
              </a:spcAft>
              <a:buClr>
                <a:srgbClr val="FF6600"/>
              </a:buClr>
              <a:buFont typeface="Arial"/>
              <a:buChar char="•"/>
            </a:pPr>
            <a:r>
              <a:rPr sz="1450" b="0" i="0" u="none">
                <a:solidFill>
                  <a:srgbClr val="1A1A1A"/>
                </a:solidFill>
                <a:latin typeface="Times New Roman"/>
              </a:rPr>
              <a:t>Six entities are linked by five one-to-many relationships, defined through primary and foreign keys.</a:t>
            </a:r>
          </a:p>
          <a:p>
            <a:pPr marL="201168" indent="-201168" algn="l">
              <a:spcAft>
                <a:spcPts val="600"/>
              </a:spcAft>
              <a:buClr>
                <a:srgbClr val="FF6600"/>
              </a:buClr>
              <a:buFont typeface="Arial"/>
              <a:buChar char="•"/>
            </a:pPr>
            <a:r>
              <a:rPr sz="1450" b="0" i="0" u="none">
                <a:solidFill>
                  <a:srgbClr val="1A1A1A"/>
                </a:solidFill>
                <a:latin typeface="Times New Roman"/>
              </a:rPr>
              <a:t>NOT NULL, UNIQUE, CHECK, and DEFAULT constraints keep data valid — invalid rows are rejected.</a:t>
            </a:r>
          </a:p>
          <a:p>
            <a:pPr marL="201168" indent="-201168" algn="l">
              <a:spcAft>
                <a:spcPts val="600"/>
              </a:spcAft>
              <a:buClr>
                <a:srgbClr val="FF6600"/>
              </a:buClr>
              <a:buFont typeface="Arial"/>
              <a:buChar char="•"/>
            </a:pPr>
            <a:r>
              <a:rPr sz="1450" b="0" i="0" u="none">
                <a:solidFill>
                  <a:srgbClr val="1A1A1A"/>
                </a:solidFill>
                <a:latin typeface="Times New Roman"/>
              </a:rPr>
              <a:t>Sample data, DDL/DML/DQL, CRUD, joins, aggregates, and a view show the working database.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448056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Times New Roman"/>
              </a:rPr>
              <a:t>KEY ADVANTAGES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4480560" cy="23317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187952"/>
            <a:ext cx="429768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Less Duplicate Data: </a:t>
            </a:r>
            <a:r>
              <a:rPr sz="1300" b="0" i="0" u="none">
                <a:solidFill>
                  <a:srgbClr val="1A1A1A"/>
                </a:solidFill>
                <a:latin typeface="Times New Roman"/>
              </a:rPr>
              <a:t>avoids storing the same information again and again.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Accurate Data: </a:t>
            </a:r>
            <a:r>
              <a:rPr sz="1300" b="0" i="0" u="none">
                <a:solidFill>
                  <a:srgbClr val="1A1A1A"/>
                </a:solidFill>
                <a:latin typeface="Times New Roman"/>
              </a:rPr>
              <a:t>primary keys and other rules keep data correct.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License Expiry Tracking: </a:t>
            </a:r>
            <a:r>
              <a:rPr sz="1300" b="0" i="0" u="none">
                <a:solidFill>
                  <a:srgbClr val="1A1A1A"/>
                </a:solidFill>
                <a:latin typeface="Times New Roman"/>
              </a:rPr>
              <a:t>tracks expiry dates and reminds about renewals.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Better Team Management: </a:t>
            </a:r>
            <a:r>
              <a:rPr sz="1300" b="0" i="0" u="none">
                <a:solidFill>
                  <a:srgbClr val="1A1A1A"/>
                </a:solidFill>
                <a:latin typeface="Times New Roman"/>
              </a:rPr>
              <a:t>easy to assign developers to projects.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1" i="0" u="none">
                <a:solidFill>
                  <a:srgbClr val="17375E"/>
                </a:solidFill>
                <a:latin typeface="Times New Roman"/>
              </a:rPr>
              <a:t>Easy to Expand: </a:t>
            </a:r>
            <a:r>
              <a:rPr sz="1300" b="0" i="0" u="none">
                <a:solidFill>
                  <a:srgbClr val="1A1A1A"/>
                </a:solidFill>
                <a:latin typeface="Times New Roman"/>
              </a:rPr>
              <a:t>new features can be added in the future.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749039"/>
            <a:ext cx="448056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Times New Roman"/>
              </a:rPr>
              <a:t>KEY LEARNINGS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4114800"/>
            <a:ext cx="4480560" cy="23317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0" y="4187952"/>
            <a:ext cx="4297680" cy="2286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Turning an ER diagram into a relational schema with the right keys.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Protecting data integrity with constraints instead of relying on application code.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Answering real questions with joins, aggregate queries, and views.</a:t>
            </a:r>
          </a:p>
          <a:p>
            <a:pPr marL="201168" indent="-201168" algn="l">
              <a:spcAft>
                <a:spcPts val="500"/>
              </a:spcAft>
              <a:buClr>
                <a:srgbClr val="FF6600"/>
              </a:buClr>
              <a:buFont typeface="Arial"/>
              <a:buChar char="•"/>
            </a:pPr>
            <a:r>
              <a:rPr sz="1300" b="0" i="0" u="none">
                <a:solidFill>
                  <a:srgbClr val="1A1A1A"/>
                </a:solidFill>
                <a:latin typeface="Times New Roman"/>
              </a:rPr>
              <a:t>Refining the design while implementing it — Project_ID was added to Software to realise the Project–Software link.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583680"/>
            <a:ext cx="9144000" cy="36576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txBody>
          <a:bodyPr wrap="square" lIns="137160" tIns="18288" bIns="18288" rtlCol="0" anchor="ctr"/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Times New Roman"/>
              </a:rPr>
              <a:t>FUTURE ENHANCEMENTS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949440"/>
            <a:ext cx="9144000" cy="50291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967728"/>
            <a:ext cx="8961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 u="none">
                <a:solidFill>
                  <a:srgbClr val="1A1A1A"/>
                </a:solidFill>
                <a:latin typeface="Times New Roman"/>
              </a:rPr>
              <a:t>Billing management and bug tracking can be added as new features.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2554</TotalTime>
  <Words>2863</Words>
  <Application>Microsoft Office PowerPoint</Application>
  <PresentationFormat>Custom</PresentationFormat>
  <Paragraphs>724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JANARDHANA</cp:lastModifiedBy>
  <cp:revision>51</cp:revision>
  <cp:lastPrinted>2025-10-14T18:21:49Z</cp:lastPrinted>
  <dcterms:created xsi:type="dcterms:W3CDTF">2025-10-10T08:28:06Z</dcterms:created>
  <dcterms:modified xsi:type="dcterms:W3CDTF">2026-09-25T11:16:41Z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